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320" r:id="rId2"/>
    <p:sldId id="321" r:id="rId3"/>
    <p:sldId id="322" r:id="rId4"/>
    <p:sldId id="323" r:id="rId5"/>
    <p:sldId id="310" r:id="rId6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71" userDrawn="1">
          <p15:clr>
            <a:srgbClr val="A4A3A4"/>
          </p15:clr>
        </p15:guide>
        <p15:guide id="2" pos="7484" userDrawn="1">
          <p15:clr>
            <a:srgbClr val="A4A3A4"/>
          </p15:clr>
        </p15:guide>
        <p15:guide id="3" orient="horz" pos="1737" userDrawn="1">
          <p15:clr>
            <a:srgbClr val="A4A3A4"/>
          </p15:clr>
        </p15:guide>
        <p15:guide id="4" orient="horz" pos="410" userDrawn="1">
          <p15:clr>
            <a:srgbClr val="A4A3A4"/>
          </p15:clr>
        </p15:guide>
        <p15:guide id="8" pos="1909" userDrawn="1">
          <p15:clr>
            <a:srgbClr val="A4A3A4"/>
          </p15:clr>
        </p15:guide>
        <p15:guide id="9" pos="3753" userDrawn="1">
          <p15:clr>
            <a:srgbClr val="A4A3A4"/>
          </p15:clr>
        </p15:guide>
        <p15:guide id="10" pos="9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80"/>
    <a:srgbClr val="1E1E1E"/>
    <a:srgbClr val="5941A9"/>
    <a:srgbClr val="3F3F3F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46" autoAdjust="0"/>
    <p:restoredTop sz="96408" autoAdjust="0"/>
  </p:normalViewPr>
  <p:slideViewPr>
    <p:cSldViewPr snapToGrid="0" showGuides="1">
      <p:cViewPr varScale="1">
        <p:scale>
          <a:sx n="115" d="100"/>
          <a:sy n="115" d="100"/>
        </p:scale>
        <p:origin x="666" y="114"/>
      </p:cViewPr>
      <p:guideLst>
        <p:guide pos="671"/>
        <p:guide pos="7484"/>
        <p:guide orient="horz" pos="1737"/>
        <p:guide orient="horz" pos="410"/>
        <p:guide pos="1909"/>
        <p:guide pos="3753"/>
        <p:guide pos="9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251E4-13F5-478F-A055-A94E3EC8E77D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906DD-BB4B-4738-86C2-BD411520A8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06DD-BB4B-4738-86C2-BD411520A85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06DD-BB4B-4738-86C2-BD411520A85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06DD-BB4B-4738-86C2-BD411520A85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06DD-BB4B-4738-86C2-BD411520A85F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56381"/>
            <a:ext cx="10378818" cy="8239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7627"/>
            <a:ext cx="3932237" cy="10433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6612" y="1518442"/>
            <a:ext cx="3932237" cy="43426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04800" y="324229"/>
            <a:ext cx="7315200" cy="667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42250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9425" y="136525"/>
            <a:ext cx="1428750" cy="3745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852285" y="4965700"/>
            <a:ext cx="2090420" cy="2806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服务器软件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2678430" y="1748790"/>
            <a:ext cx="1743710" cy="4480560"/>
          </a:xfrm>
          <a:prstGeom prst="round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69875" y="140970"/>
            <a:ext cx="5520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web&amp;</a:t>
            </a:r>
            <a:r>
              <a:rPr lang="zh-CN" altLang="en-US" sz="2000" b="1" dirty="0"/>
              <a:t>框架核心概念</a:t>
            </a:r>
          </a:p>
        </p:txBody>
      </p:sp>
      <p:pic>
        <p:nvPicPr>
          <p:cNvPr id="5" name="图片 4" descr="10758976910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4040" y="2040249"/>
            <a:ext cx="675005" cy="675005"/>
          </a:xfrm>
          <a:prstGeom prst="rect">
            <a:avLst/>
          </a:prstGeom>
        </p:spPr>
      </p:pic>
      <p:pic>
        <p:nvPicPr>
          <p:cNvPr id="10" name="图片 9" descr="手机APP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14040" y="2884592"/>
            <a:ext cx="872490" cy="872490"/>
          </a:xfrm>
          <a:prstGeom prst="rect">
            <a:avLst/>
          </a:prstGeom>
        </p:spPr>
      </p:pic>
      <p:cxnSp>
        <p:nvCxnSpPr>
          <p:cNvPr id="13" name="直接箭头连接符 12"/>
          <p:cNvCxnSpPr/>
          <p:nvPr/>
        </p:nvCxnSpPr>
        <p:spPr>
          <a:xfrm>
            <a:off x="4133850" y="3171825"/>
            <a:ext cx="2811145" cy="330835"/>
          </a:xfrm>
          <a:prstGeom prst="straightConnector1">
            <a:avLst/>
          </a:prstGeom>
          <a:ln w="47625" cap="flat" cmpd="sng" algn="ctr">
            <a:solidFill>
              <a:srgbClr val="3F3F3F"/>
            </a:solidFill>
            <a:prstDash val="sysDot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4027170" y="4253230"/>
            <a:ext cx="2868295" cy="708660"/>
          </a:xfrm>
          <a:prstGeom prst="straightConnector1">
            <a:avLst/>
          </a:prstGeom>
          <a:ln w="47625" cap="flat" cmpd="sng" algn="ctr">
            <a:solidFill>
              <a:srgbClr val="3F3F3F"/>
            </a:solidFill>
            <a:prstDash val="sysDot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2678430" y="5935345"/>
            <a:ext cx="688975" cy="29400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客户端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7147560" y="2840355"/>
            <a:ext cx="1421130" cy="199199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7879715" y="4538345"/>
            <a:ext cx="688975" cy="29400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服务端</a:t>
            </a:r>
          </a:p>
        </p:txBody>
      </p:sp>
      <p:sp>
        <p:nvSpPr>
          <p:cNvPr id="2" name="矩形 1"/>
          <p:cNvSpPr/>
          <p:nvPr/>
        </p:nvSpPr>
        <p:spPr>
          <a:xfrm>
            <a:off x="7259320" y="3375025"/>
            <a:ext cx="1197610" cy="3340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</a:rPr>
              <a:t>静态资源</a:t>
            </a:r>
          </a:p>
        </p:txBody>
      </p:sp>
      <p:sp>
        <p:nvSpPr>
          <p:cNvPr id="4" name="矩形 3"/>
          <p:cNvSpPr/>
          <p:nvPr/>
        </p:nvSpPr>
        <p:spPr>
          <a:xfrm>
            <a:off x="7259320" y="3919220"/>
            <a:ext cx="1197610" cy="3340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</a:rPr>
              <a:t>动态资源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8767" y="5385752"/>
            <a:ext cx="651510" cy="46291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8690" y="5379720"/>
            <a:ext cx="793115" cy="47498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027295" y="3775710"/>
            <a:ext cx="958215" cy="2876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</a:t>
            </a:r>
            <a:r>
              <a:rPr lang="zh-CN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协议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7455" y="340360"/>
            <a:ext cx="1089660" cy="108966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2625" y="340360"/>
            <a:ext cx="1069340" cy="107124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D1B0D1E6-C2D0-2F85-7088-2EA7EFB60997}"/>
              </a:ext>
            </a:extLst>
          </p:cNvPr>
          <p:cNvSpPr txBox="1"/>
          <p:nvPr/>
        </p:nvSpPr>
        <p:spPr>
          <a:xfrm>
            <a:off x="3206921" y="532913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DCDBD16-0E15-79A3-C5CC-083CD54285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07458" y="5407025"/>
            <a:ext cx="654050" cy="47815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71D3BFD-2CB5-F431-3057-F682366040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122543">
            <a:off x="3069862" y="3906205"/>
            <a:ext cx="853440" cy="81534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F547B11-20FA-1E84-77FD-CF77F261485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122543">
            <a:off x="3068289" y="4726625"/>
            <a:ext cx="904875" cy="914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14" grpId="0" animBg="1"/>
      <p:bldP spid="19" grpId="0" animBg="1"/>
      <p:bldP spid="20" grpId="0" animBg="1"/>
      <p:bldP spid="2" grpId="0" animBg="1"/>
      <p:bldP spid="4" grpId="0" animBg="1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9003665" y="2426970"/>
            <a:ext cx="3024505" cy="2755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动态资源：</a:t>
            </a:r>
            <a:r>
              <a:rPr lang="en-US" altLang="zh-CN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servlet/jsp </a:t>
            </a:r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等</a:t>
            </a:r>
            <a:r>
              <a:rPr lang="en-US" altLang="zh-CN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</a:t>
            </a:r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技术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936740" y="3415030"/>
            <a:ext cx="2090420" cy="2806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服务器软件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2762885" y="198120"/>
            <a:ext cx="1743710" cy="4480560"/>
          </a:xfrm>
          <a:prstGeom prst="round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4218305" y="1621155"/>
            <a:ext cx="2811145" cy="330835"/>
          </a:xfrm>
          <a:prstGeom prst="straightConnector1">
            <a:avLst/>
          </a:prstGeom>
          <a:ln w="47625" cap="flat" cmpd="sng" algn="ctr">
            <a:solidFill>
              <a:srgbClr val="3F3F3F"/>
            </a:solidFill>
            <a:prstDash val="sysDot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4111625" y="2702560"/>
            <a:ext cx="2868295" cy="708660"/>
          </a:xfrm>
          <a:prstGeom prst="straightConnector1">
            <a:avLst/>
          </a:prstGeom>
          <a:ln w="47625" cap="flat" cmpd="sng" algn="ctr">
            <a:solidFill>
              <a:srgbClr val="3F3F3F"/>
            </a:solidFill>
            <a:prstDash val="sysDot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2762885" y="4384675"/>
            <a:ext cx="688975" cy="29400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客户端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7232015" y="1289685"/>
            <a:ext cx="1421130" cy="199199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7964170" y="2987675"/>
            <a:ext cx="688975" cy="29400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服务端</a:t>
            </a:r>
          </a:p>
        </p:txBody>
      </p:sp>
      <p:sp>
        <p:nvSpPr>
          <p:cNvPr id="2" name="矩形 1"/>
          <p:cNvSpPr/>
          <p:nvPr/>
        </p:nvSpPr>
        <p:spPr>
          <a:xfrm>
            <a:off x="7343775" y="1824355"/>
            <a:ext cx="1197610" cy="3340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</a:rPr>
              <a:t>静态资源</a:t>
            </a:r>
          </a:p>
        </p:txBody>
      </p:sp>
      <p:sp>
        <p:nvSpPr>
          <p:cNvPr id="4" name="矩形 3"/>
          <p:cNvSpPr/>
          <p:nvPr/>
        </p:nvSpPr>
        <p:spPr>
          <a:xfrm>
            <a:off x="7343775" y="2368550"/>
            <a:ext cx="1197610" cy="3340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</a:rPr>
              <a:t>动态资源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844" y="3793750"/>
            <a:ext cx="651510" cy="46291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6599" y="3781685"/>
            <a:ext cx="793115" cy="47498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11750" y="2225040"/>
            <a:ext cx="958215" cy="2876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</a:t>
            </a:r>
            <a:r>
              <a:rPr lang="zh-CN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协议</a:t>
            </a:r>
          </a:p>
        </p:txBody>
      </p:sp>
      <p:cxnSp>
        <p:nvCxnSpPr>
          <p:cNvPr id="9" name="直接箭头连接符 8"/>
          <p:cNvCxnSpPr/>
          <p:nvPr/>
        </p:nvCxnSpPr>
        <p:spPr>
          <a:xfrm>
            <a:off x="8491220" y="2003425"/>
            <a:ext cx="454025" cy="0"/>
          </a:xfrm>
          <a:prstGeom prst="straightConnector1">
            <a:avLst/>
          </a:prstGeom>
          <a:ln w="28575" cap="rnd" cmpd="sng">
            <a:solidFill>
              <a:srgbClr val="FF0000"/>
            </a:soli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8491220" y="2548255"/>
            <a:ext cx="467995" cy="0"/>
          </a:xfrm>
          <a:prstGeom prst="straightConnector1">
            <a:avLst/>
          </a:prstGeom>
          <a:ln w="28575" cap="rnd" cmpd="sng">
            <a:solidFill>
              <a:srgbClr val="FF0000"/>
            </a:soli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9003665" y="1856740"/>
            <a:ext cx="3024505" cy="2755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静态资源：</a:t>
            </a:r>
            <a:r>
              <a:rPr lang="en-US" altLang="zh-CN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html/css/javascript/</a:t>
            </a:r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图片等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639060" y="4978400"/>
            <a:ext cx="78092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Web</a:t>
            </a:r>
            <a:r>
              <a:rPr lang="zh-CN" altLang="en-US" sz="12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</a:t>
            </a:r>
            <a:r>
              <a:rPr lang="zh-CN" altLang="en-US" sz="1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lang="zh-CN" altLang="en-US"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基于网络通信，由客户端和服务器组成的程序！客户端一般用于展示和数据收集，服务端用于数据处理！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8152765" y="683895"/>
            <a:ext cx="28467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>
                <a:latin typeface="黑体" panose="02010609060101010101" charset="-122"/>
                <a:ea typeface="黑体" panose="02010609060101010101" charset="-122"/>
              </a:rPr>
              <a:t>Server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：用于处理逻辑以及数据库交互！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68910" y="2906395"/>
            <a:ext cx="2273935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1200">
                <a:latin typeface="黑体" panose="02010609060101010101" charset="-122"/>
                <a:ea typeface="黑体" panose="02010609060101010101" charset="-122"/>
              </a:rPr>
              <a:t>Client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：多模态（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</a:rPr>
              <a:t>pc/app/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小程序）组成，用户展示数据和收集用户输入信息！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4662170" y="382905"/>
            <a:ext cx="37630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HTTP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协议：规定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Client/Server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网络通信的数据格式！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61035" y="5763895"/>
            <a:ext cx="6572885" cy="294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1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B/S </a:t>
            </a:r>
            <a:r>
              <a:rPr lang="zh-CN" altLang="en-US" sz="1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架构：</a:t>
            </a:r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浏览器当客户端，不用装软件，网页访问即可用。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sym typeface="+mn-ea"/>
              </a:rPr>
              <a:t>（更方便快捷，用户粘度差！）</a:t>
            </a:r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/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61035" y="5469255"/>
            <a:ext cx="6683375" cy="320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1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C/S </a:t>
            </a:r>
            <a:r>
              <a:rPr lang="zh-CN" altLang="en-US" sz="1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架构：</a:t>
            </a:r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需装专用客户端软件，本地运行，连接服务器使用。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sym typeface="+mn-ea"/>
              </a:rPr>
              <a:t>（需要下载客户端，用户粘度高）</a:t>
            </a:r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flipH="1">
            <a:off x="1838325" y="2318385"/>
            <a:ext cx="1075055" cy="484505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V="1">
            <a:off x="8152765" y="952500"/>
            <a:ext cx="565150" cy="66167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9116695" y="3568700"/>
            <a:ext cx="882015" cy="64643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5672455" y="650875"/>
            <a:ext cx="286385" cy="142113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8945245" y="4291965"/>
            <a:ext cx="3195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>
              <a:buClrTx/>
              <a:buSzTx/>
              <a:buFontTx/>
            </a:pPr>
            <a:r>
              <a:rPr lang="zh-CN" altLang="en-US" sz="1200" b="0" i="0">
                <a:latin typeface="黑体" panose="02010609060101010101" charset="-122"/>
                <a:ea typeface="黑体" panose="02010609060101010101" charset="-122"/>
              </a:rPr>
              <a:t>承载 JavaWeb 程序运行，接收HTTP请求、</a:t>
            </a:r>
          </a:p>
          <a:p>
            <a:pPr marL="0" algn="l">
              <a:buClrTx/>
              <a:buSzTx/>
              <a:buFontTx/>
            </a:pPr>
            <a:r>
              <a:rPr lang="zh-CN" altLang="en-US" sz="1200" b="0" i="0">
                <a:latin typeface="黑体" panose="02010609060101010101" charset="-122"/>
                <a:ea typeface="黑体" panose="02010609060101010101" charset="-122"/>
              </a:rPr>
              <a:t>解析执行后返回网页 / 数据！</a:t>
            </a:r>
          </a:p>
        </p:txBody>
      </p:sp>
      <p:cxnSp>
        <p:nvCxnSpPr>
          <p:cNvPr id="41" name="直接连接符 40"/>
          <p:cNvCxnSpPr/>
          <p:nvPr/>
        </p:nvCxnSpPr>
        <p:spPr>
          <a:xfrm>
            <a:off x="9814560" y="2589530"/>
            <a:ext cx="735965" cy="0"/>
          </a:xfrm>
          <a:prstGeom prst="line">
            <a:avLst/>
          </a:prstGeom>
          <a:ln w="28575" cap="rnd" cmpd="sng">
            <a:solidFill>
              <a:srgbClr val="FF0000"/>
            </a:solidFill>
            <a:prstDash val="solid"/>
            <a:tailEnd type="non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9027160" y="2757170"/>
            <a:ext cx="25914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err="1">
                <a:solidFill>
                  <a:schemeClr val="accent1"/>
                </a:solidFill>
              </a:rPr>
              <a:t>ssm</a:t>
            </a:r>
            <a:r>
              <a:rPr lang="en-US" altLang="zh-CN" sz="1200" b="1" dirty="0">
                <a:solidFill>
                  <a:schemeClr val="accent1"/>
                </a:solidFill>
              </a:rPr>
              <a:t> -&gt; </a:t>
            </a:r>
            <a:r>
              <a:rPr lang="en-US" altLang="zh-CN" sz="1200" b="1" dirty="0" err="1">
                <a:solidFill>
                  <a:schemeClr val="accent1"/>
                </a:solidFill>
              </a:rPr>
              <a:t>springboot</a:t>
            </a:r>
            <a:r>
              <a:rPr lang="en-US" altLang="zh-CN" sz="1200" b="1" dirty="0">
                <a:solidFill>
                  <a:schemeClr val="accent1"/>
                </a:solidFill>
              </a:rPr>
              <a:t>/</a:t>
            </a:r>
            <a:r>
              <a:rPr lang="en-US" altLang="zh-CN" sz="1200" b="1" dirty="0" err="1">
                <a:solidFill>
                  <a:schemeClr val="accent1"/>
                </a:solidFill>
              </a:rPr>
              <a:t>springmvc</a:t>
            </a:r>
            <a:r>
              <a:rPr lang="en-US" altLang="zh-CN" sz="1200" b="1" dirty="0">
                <a:solidFill>
                  <a:schemeClr val="accent1"/>
                </a:solidFill>
              </a:rPr>
              <a:t>/</a:t>
            </a:r>
            <a:r>
              <a:rPr lang="en-US" altLang="zh-CN" sz="1200" b="1" dirty="0" err="1">
                <a:solidFill>
                  <a:schemeClr val="accent1"/>
                </a:solidFill>
              </a:rPr>
              <a:t>mybatis</a:t>
            </a:r>
            <a:endParaRPr lang="en-US" altLang="zh-CN" sz="1200" b="1" dirty="0">
              <a:solidFill>
                <a:schemeClr val="accent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1C2A80-28B5-E255-CA9F-5F143DAF4CC8}"/>
              </a:ext>
            </a:extLst>
          </p:cNvPr>
          <p:cNvSpPr txBox="1"/>
          <p:nvPr/>
        </p:nvSpPr>
        <p:spPr>
          <a:xfrm>
            <a:off x="3367177" y="376656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pic>
        <p:nvPicPr>
          <p:cNvPr id="24" name="图片 23" descr="10758976910">
            <a:extLst>
              <a:ext uri="{FF2B5EF4-FFF2-40B4-BE49-F238E27FC236}">
                <a16:creationId xmlns:a16="http://schemas.microsoft.com/office/drawing/2014/main" id="{E341221A-7490-F4E3-993E-04E6D2B145F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275330" y="434340"/>
            <a:ext cx="675005" cy="67500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8CE08EFC-3E63-492C-A1FB-4509E08343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8330" y="474345"/>
            <a:ext cx="891540" cy="81534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D346FE7F-9AD5-1C6D-58D3-6B4CB723E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3570" y="1376680"/>
            <a:ext cx="876300" cy="100584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89CA537E-4D5D-0D09-8B54-0DD029F732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6105" y="2548255"/>
            <a:ext cx="853440" cy="8153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3576E00-3D5F-EA94-18E1-7560013C53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5395" y="3825875"/>
            <a:ext cx="654050" cy="47815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57D37DE-CA94-A554-3046-8507A4F69B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4532" y="3368675"/>
            <a:ext cx="904875" cy="914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1" grpId="0"/>
      <p:bldP spid="25" grpId="0"/>
      <p:bldP spid="26" grpId="0"/>
      <p:bldP spid="27" grpId="0"/>
      <p:bldP spid="31" grpId="0"/>
      <p:bldP spid="32" grpId="0"/>
      <p:bldP spid="33" grpId="0"/>
      <p:bldP spid="38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9003665" y="2426970"/>
            <a:ext cx="3024505" cy="2755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动态资源：</a:t>
            </a:r>
            <a:r>
              <a:rPr lang="en-US" altLang="zh-CN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servlet/jsp </a:t>
            </a:r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等</a:t>
            </a:r>
            <a:r>
              <a:rPr lang="en-US" altLang="zh-CN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</a:t>
            </a:r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技术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936740" y="3415030"/>
            <a:ext cx="2090420" cy="2806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服务器软件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2762885" y="198120"/>
            <a:ext cx="1743710" cy="4480560"/>
          </a:xfrm>
          <a:prstGeom prst="round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10758976910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275330" y="434340"/>
            <a:ext cx="675005" cy="675005"/>
          </a:xfrm>
          <a:prstGeom prst="rect">
            <a:avLst/>
          </a:prstGeom>
        </p:spPr>
      </p:pic>
      <p:cxnSp>
        <p:nvCxnSpPr>
          <p:cNvPr id="13" name="直接箭头连接符 12"/>
          <p:cNvCxnSpPr/>
          <p:nvPr/>
        </p:nvCxnSpPr>
        <p:spPr>
          <a:xfrm>
            <a:off x="4218305" y="1621155"/>
            <a:ext cx="2811145" cy="330835"/>
          </a:xfrm>
          <a:prstGeom prst="straightConnector1">
            <a:avLst/>
          </a:prstGeom>
          <a:ln w="47625" cap="flat" cmpd="sng" algn="ctr">
            <a:solidFill>
              <a:srgbClr val="3F3F3F"/>
            </a:solidFill>
            <a:prstDash val="sysDot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4111625" y="2702560"/>
            <a:ext cx="2868295" cy="708660"/>
          </a:xfrm>
          <a:prstGeom prst="straightConnector1">
            <a:avLst/>
          </a:prstGeom>
          <a:ln w="47625" cap="flat" cmpd="sng" algn="ctr">
            <a:solidFill>
              <a:srgbClr val="3F3F3F"/>
            </a:solidFill>
            <a:prstDash val="sysDot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2762885" y="4384675"/>
            <a:ext cx="688975" cy="29400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客户端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7232015" y="1289685"/>
            <a:ext cx="1421130" cy="199199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7964170" y="2987675"/>
            <a:ext cx="688975" cy="29400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服务端</a:t>
            </a:r>
          </a:p>
        </p:txBody>
      </p:sp>
      <p:sp>
        <p:nvSpPr>
          <p:cNvPr id="2" name="矩形 1"/>
          <p:cNvSpPr/>
          <p:nvPr/>
        </p:nvSpPr>
        <p:spPr>
          <a:xfrm>
            <a:off x="7343775" y="1824355"/>
            <a:ext cx="1197610" cy="3340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</a:rPr>
              <a:t>静态资源</a:t>
            </a:r>
          </a:p>
        </p:txBody>
      </p:sp>
      <p:sp>
        <p:nvSpPr>
          <p:cNvPr id="4" name="矩形 3"/>
          <p:cNvSpPr/>
          <p:nvPr/>
        </p:nvSpPr>
        <p:spPr>
          <a:xfrm>
            <a:off x="7343775" y="2368550"/>
            <a:ext cx="1197610" cy="3340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</a:rPr>
              <a:t>动态资源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8785" y="3829050"/>
            <a:ext cx="651510" cy="46291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5395" y="3825875"/>
            <a:ext cx="654050" cy="47815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4545" y="3829050"/>
            <a:ext cx="793115" cy="47498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11750" y="2225040"/>
            <a:ext cx="958215" cy="2876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</a:t>
            </a:r>
            <a:r>
              <a:rPr lang="zh-CN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协议</a:t>
            </a:r>
          </a:p>
        </p:txBody>
      </p:sp>
      <p:cxnSp>
        <p:nvCxnSpPr>
          <p:cNvPr id="9" name="直接箭头连接符 8"/>
          <p:cNvCxnSpPr/>
          <p:nvPr/>
        </p:nvCxnSpPr>
        <p:spPr>
          <a:xfrm>
            <a:off x="8491220" y="2003425"/>
            <a:ext cx="454025" cy="0"/>
          </a:xfrm>
          <a:prstGeom prst="straightConnector1">
            <a:avLst/>
          </a:prstGeom>
          <a:ln w="28575" cap="rnd" cmpd="sng">
            <a:solidFill>
              <a:srgbClr val="FF0000"/>
            </a:soli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8491220" y="2548255"/>
            <a:ext cx="467995" cy="0"/>
          </a:xfrm>
          <a:prstGeom prst="straightConnector1">
            <a:avLst/>
          </a:prstGeom>
          <a:ln w="28575" cap="rnd" cmpd="sng">
            <a:solidFill>
              <a:srgbClr val="FF0000"/>
            </a:soli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9003665" y="1856740"/>
            <a:ext cx="3024505" cy="2755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静态资源：</a:t>
            </a:r>
            <a:r>
              <a:rPr lang="en-US" altLang="zh-CN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html/css/javascript/</a:t>
            </a:r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图片等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8152765" y="683895"/>
            <a:ext cx="28467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>
                <a:latin typeface="黑体" panose="02010609060101010101" charset="-122"/>
                <a:ea typeface="黑体" panose="02010609060101010101" charset="-122"/>
              </a:rPr>
              <a:t>Server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：用于处理逻辑以及数据库交互！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68910" y="2906395"/>
            <a:ext cx="2273935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1200">
                <a:latin typeface="黑体" panose="02010609060101010101" charset="-122"/>
                <a:ea typeface="黑体" panose="02010609060101010101" charset="-122"/>
              </a:rPr>
              <a:t>Client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：多模态（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</a:rPr>
              <a:t>pc/app/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小程序）组成，用户展示数据和收集用户输入信息！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4662170" y="382905"/>
            <a:ext cx="37630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HTTP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协议：规定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Client/Server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网络通信的数据格式！</a:t>
            </a:r>
          </a:p>
        </p:txBody>
      </p:sp>
      <p:cxnSp>
        <p:nvCxnSpPr>
          <p:cNvPr id="34" name="直接箭头连接符 33"/>
          <p:cNvCxnSpPr/>
          <p:nvPr/>
        </p:nvCxnSpPr>
        <p:spPr>
          <a:xfrm flipH="1">
            <a:off x="1838325" y="2318385"/>
            <a:ext cx="1075055" cy="484505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V="1">
            <a:off x="8152765" y="952500"/>
            <a:ext cx="565150" cy="66167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9116695" y="3568700"/>
            <a:ext cx="882015" cy="64643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5672455" y="650875"/>
            <a:ext cx="286385" cy="142113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8945245" y="4291965"/>
            <a:ext cx="3195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>
              <a:buClrTx/>
              <a:buSzTx/>
              <a:buFontTx/>
            </a:pPr>
            <a:r>
              <a:rPr lang="zh-CN" altLang="en-US" sz="1200" b="0" i="0">
                <a:latin typeface="黑体" panose="02010609060101010101" charset="-122"/>
                <a:ea typeface="黑体" panose="02010609060101010101" charset="-122"/>
              </a:rPr>
              <a:t>承载 JavaWeb 程序运行，接收HTTP请求、</a:t>
            </a:r>
          </a:p>
          <a:p>
            <a:pPr marL="0" algn="l">
              <a:buClrTx/>
              <a:buSzTx/>
              <a:buFontTx/>
            </a:pPr>
            <a:r>
              <a:rPr lang="zh-CN" altLang="en-US" sz="1200" b="0" i="0">
                <a:latin typeface="黑体" panose="02010609060101010101" charset="-122"/>
                <a:ea typeface="黑体" panose="02010609060101010101" charset="-122"/>
              </a:rPr>
              <a:t>解析执行后返回网页 / 数据！</a:t>
            </a:r>
          </a:p>
        </p:txBody>
      </p:sp>
      <p:cxnSp>
        <p:nvCxnSpPr>
          <p:cNvPr id="41" name="直接连接符 40"/>
          <p:cNvCxnSpPr/>
          <p:nvPr/>
        </p:nvCxnSpPr>
        <p:spPr>
          <a:xfrm>
            <a:off x="9814560" y="2589530"/>
            <a:ext cx="735965" cy="0"/>
          </a:xfrm>
          <a:prstGeom prst="line">
            <a:avLst/>
          </a:prstGeom>
          <a:ln w="28575" cap="rnd" cmpd="sng">
            <a:solidFill>
              <a:srgbClr val="FF0000"/>
            </a:solidFill>
            <a:prstDash val="solid"/>
            <a:tailEnd type="non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9217660" y="2757170"/>
            <a:ext cx="25914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accent1"/>
                </a:solidFill>
              </a:rPr>
              <a:t>ssm -&gt; springboot/springmvc/mybatis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1737360" y="5477510"/>
            <a:ext cx="1147445" cy="41973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springboot</a:t>
            </a:r>
          </a:p>
        </p:txBody>
      </p:sp>
      <p:sp>
        <p:nvSpPr>
          <p:cNvPr id="44" name="圆角矩形 43"/>
          <p:cNvSpPr/>
          <p:nvPr/>
        </p:nvSpPr>
        <p:spPr>
          <a:xfrm>
            <a:off x="3306445" y="5477510"/>
            <a:ext cx="1037590" cy="41973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springmvc</a:t>
            </a:r>
          </a:p>
        </p:txBody>
      </p:sp>
      <p:sp>
        <p:nvSpPr>
          <p:cNvPr id="45" name="圆角矩形 44"/>
          <p:cNvSpPr/>
          <p:nvPr/>
        </p:nvSpPr>
        <p:spPr>
          <a:xfrm>
            <a:off x="4772660" y="5477510"/>
            <a:ext cx="1037590" cy="41973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mybatis</a:t>
            </a:r>
          </a:p>
        </p:txBody>
      </p:sp>
      <p:sp>
        <p:nvSpPr>
          <p:cNvPr id="46" name="圆角矩形 45"/>
          <p:cNvSpPr/>
          <p:nvPr/>
        </p:nvSpPr>
        <p:spPr>
          <a:xfrm>
            <a:off x="6238875" y="5477510"/>
            <a:ext cx="1037590" cy="41973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mybatisplus</a:t>
            </a:r>
          </a:p>
        </p:txBody>
      </p:sp>
      <p:sp>
        <p:nvSpPr>
          <p:cNvPr id="47" name="圆角矩形 46"/>
          <p:cNvSpPr/>
          <p:nvPr/>
        </p:nvSpPr>
        <p:spPr>
          <a:xfrm>
            <a:off x="7705090" y="5477510"/>
            <a:ext cx="1037590" cy="41973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spring</a:t>
            </a:r>
            <a:r>
              <a:rPr lang="zh-CN" altLang="en-US" sz="1200" b="1"/>
              <a:t>高级</a:t>
            </a:r>
          </a:p>
        </p:txBody>
      </p:sp>
      <p:sp>
        <p:nvSpPr>
          <p:cNvPr id="48" name="圆角矩形 47"/>
          <p:cNvSpPr/>
          <p:nvPr/>
        </p:nvSpPr>
        <p:spPr>
          <a:xfrm>
            <a:off x="9116695" y="5477510"/>
            <a:ext cx="1753235" cy="41973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springboot</a:t>
            </a:r>
            <a:r>
              <a:rPr lang="zh-CN" altLang="en-US" sz="1200" b="1"/>
              <a:t>高级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8330" y="474345"/>
            <a:ext cx="891540" cy="81534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3570" y="1376680"/>
            <a:ext cx="876300" cy="100584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6105" y="2548255"/>
            <a:ext cx="853440" cy="815340"/>
          </a:xfrm>
          <a:prstGeom prst="rect">
            <a:avLst/>
          </a:prstGeom>
        </p:spPr>
      </p:pic>
      <p:cxnSp>
        <p:nvCxnSpPr>
          <p:cNvPr id="3" name="直接箭头连接符 2"/>
          <p:cNvCxnSpPr>
            <a:endCxn id="44" idx="1"/>
          </p:cNvCxnSpPr>
          <p:nvPr/>
        </p:nvCxnSpPr>
        <p:spPr>
          <a:xfrm>
            <a:off x="2941955" y="5687060"/>
            <a:ext cx="364490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4376420" y="5687695"/>
            <a:ext cx="364490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5874385" y="5688330"/>
            <a:ext cx="364490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7343775" y="5688965"/>
            <a:ext cx="364490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8752205" y="5689600"/>
            <a:ext cx="364490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87DFDDED-A0BF-1A2B-634F-DCCF49CEC349}"/>
              </a:ext>
            </a:extLst>
          </p:cNvPr>
          <p:cNvSpPr txBox="1"/>
          <p:nvPr/>
        </p:nvSpPr>
        <p:spPr>
          <a:xfrm>
            <a:off x="3367177" y="376656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35038077-C761-B85A-BEF2-BD0450284E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17215" y="3349295"/>
            <a:ext cx="904875" cy="914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963AB33-C9D0-AFBB-0ABD-EE31B749E6C0}"/>
              </a:ext>
            </a:extLst>
          </p:cNvPr>
          <p:cNvSpPr/>
          <p:nvPr/>
        </p:nvSpPr>
        <p:spPr>
          <a:xfrm>
            <a:off x="390698" y="1363287"/>
            <a:ext cx="1321723" cy="41314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E500E9-A812-8481-A67E-220A92EE8ED1}"/>
              </a:ext>
            </a:extLst>
          </p:cNvPr>
          <p:cNvSpPr txBox="1"/>
          <p:nvPr/>
        </p:nvSpPr>
        <p:spPr>
          <a:xfrm>
            <a:off x="612977" y="8277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客户端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B209A7-26BF-5535-9E6C-290EDFF7EA6A}"/>
              </a:ext>
            </a:extLst>
          </p:cNvPr>
          <p:cNvSpPr/>
          <p:nvPr/>
        </p:nvSpPr>
        <p:spPr>
          <a:xfrm>
            <a:off x="3753196" y="1365675"/>
            <a:ext cx="6633556" cy="426442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87C103-3808-2F98-260A-0D7538EBDBD5}"/>
              </a:ext>
            </a:extLst>
          </p:cNvPr>
          <p:cNvSpPr txBox="1"/>
          <p:nvPr/>
        </p:nvSpPr>
        <p:spPr>
          <a:xfrm>
            <a:off x="5565370" y="92331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服务器端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3E4351C-CA5C-D6D4-916F-A165635C809A}"/>
              </a:ext>
            </a:extLst>
          </p:cNvPr>
          <p:cNvCxnSpPr>
            <a:cxnSpLocks/>
          </p:cNvCxnSpPr>
          <p:nvPr/>
        </p:nvCxnSpPr>
        <p:spPr>
          <a:xfrm>
            <a:off x="1712421" y="2377439"/>
            <a:ext cx="1997597" cy="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1631C57-CD4F-5D3E-9446-3B7F1C23C993}"/>
              </a:ext>
            </a:extLst>
          </p:cNvPr>
          <p:cNvSpPr txBox="1"/>
          <p:nvPr/>
        </p:nvSpPr>
        <p:spPr>
          <a:xfrm>
            <a:off x="2431473" y="1501031"/>
            <a:ext cx="1321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Http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CD336EA-88F9-E460-5835-D75ACC3E7E45}"/>
              </a:ext>
            </a:extLst>
          </p:cNvPr>
          <p:cNvSpPr txBox="1"/>
          <p:nvPr/>
        </p:nvSpPr>
        <p:spPr>
          <a:xfrm>
            <a:off x="2256907" y="2008107"/>
            <a:ext cx="1130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request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C33A5D1-08FC-1ED2-FB91-DCE308199684}"/>
              </a:ext>
            </a:extLst>
          </p:cNvPr>
          <p:cNvCxnSpPr>
            <a:cxnSpLocks/>
          </p:cNvCxnSpPr>
          <p:nvPr/>
        </p:nvCxnSpPr>
        <p:spPr>
          <a:xfrm flipH="1">
            <a:off x="1712421" y="4297679"/>
            <a:ext cx="1939355" cy="0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613ED242-B094-7D32-0FB9-7C612EAB3297}"/>
              </a:ext>
            </a:extLst>
          </p:cNvPr>
          <p:cNvSpPr txBox="1"/>
          <p:nvPr/>
        </p:nvSpPr>
        <p:spPr>
          <a:xfrm>
            <a:off x="2277687" y="3940232"/>
            <a:ext cx="1180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response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E88FAD-FB73-D458-B3C7-D39AECCA1AC1}"/>
              </a:ext>
            </a:extLst>
          </p:cNvPr>
          <p:cNvSpPr txBox="1"/>
          <p:nvPr/>
        </p:nvSpPr>
        <p:spPr>
          <a:xfrm>
            <a:off x="465512" y="2177934"/>
            <a:ext cx="11305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Html</a:t>
            </a:r>
          </a:p>
          <a:p>
            <a:r>
              <a:rPr lang="en-US" altLang="zh-CN" dirty="0" err="1"/>
              <a:t>Css</a:t>
            </a:r>
            <a:endParaRPr lang="en-US" altLang="zh-CN" dirty="0"/>
          </a:p>
          <a:p>
            <a:r>
              <a:rPr lang="en-US" altLang="zh-CN" dirty="0"/>
              <a:t>JavaScript</a:t>
            </a:r>
          </a:p>
          <a:p>
            <a:endParaRPr lang="en-US" altLang="zh-CN" dirty="0"/>
          </a:p>
          <a:p>
            <a:r>
              <a:rPr lang="en-US" altLang="zh-CN" dirty="0"/>
              <a:t>Vue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4E160CC-3E53-6823-D47C-0C7A4D72A671}"/>
              </a:ext>
            </a:extLst>
          </p:cNvPr>
          <p:cNvSpPr/>
          <p:nvPr/>
        </p:nvSpPr>
        <p:spPr>
          <a:xfrm>
            <a:off x="5498869" y="2079972"/>
            <a:ext cx="1367445" cy="274676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Controller</a:t>
            </a:r>
          </a:p>
          <a:p>
            <a:pPr algn="ctr"/>
            <a:r>
              <a:rPr lang="zh-CN" altLang="en-US" sz="1200" dirty="0"/>
              <a:t>映射</a:t>
            </a:r>
            <a:endParaRPr lang="en-US" altLang="zh-CN" sz="1200" dirty="0"/>
          </a:p>
          <a:p>
            <a:pPr algn="ctr"/>
            <a:r>
              <a:rPr lang="zh-CN" altLang="en-US" sz="1200" dirty="0"/>
              <a:t>接收数据</a:t>
            </a:r>
            <a:endParaRPr lang="en-US" altLang="zh-CN" sz="1200" dirty="0"/>
          </a:p>
          <a:p>
            <a:pPr algn="ctr"/>
            <a:r>
              <a:rPr lang="zh-CN" altLang="en-US" sz="1200" dirty="0"/>
              <a:t>调用业务层</a:t>
            </a:r>
            <a:endParaRPr lang="en-US" altLang="zh-CN" sz="1200" dirty="0"/>
          </a:p>
          <a:p>
            <a:pPr algn="ctr"/>
            <a:r>
              <a:rPr lang="zh-CN" altLang="en-US" sz="1100" dirty="0"/>
              <a:t>响应结果</a:t>
            </a:r>
            <a:r>
              <a:rPr lang="zh-CN" altLang="en-US" sz="900" dirty="0"/>
              <a:t>（</a:t>
            </a:r>
            <a:r>
              <a:rPr lang="en-US" altLang="zh-CN" sz="900" dirty="0"/>
              <a:t>Result</a:t>
            </a:r>
            <a:r>
              <a:rPr lang="zh-CN" altLang="en-US" sz="900" dirty="0"/>
              <a:t>）</a:t>
            </a:r>
            <a:endParaRPr lang="zh-CN" altLang="en-US" sz="1100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0AC14F3-8ED7-C499-FEE9-67D9F7B5AC55}"/>
              </a:ext>
            </a:extLst>
          </p:cNvPr>
          <p:cNvSpPr/>
          <p:nvPr/>
        </p:nvSpPr>
        <p:spPr>
          <a:xfrm>
            <a:off x="7148944" y="2012283"/>
            <a:ext cx="1429789" cy="283820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Service</a:t>
            </a:r>
          </a:p>
          <a:p>
            <a:pPr algn="ctr"/>
            <a:r>
              <a:rPr lang="zh-CN" altLang="en-US" sz="1400" dirty="0"/>
              <a:t>业务逻辑处理</a:t>
            </a:r>
            <a:endParaRPr lang="en-US" altLang="zh-CN" sz="1400" dirty="0"/>
          </a:p>
          <a:p>
            <a:pPr algn="ctr"/>
            <a:endParaRPr lang="zh-CN" altLang="en-US" sz="1400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5ED60EB-B820-AB6E-71DC-4113E37EECD8}"/>
              </a:ext>
            </a:extLst>
          </p:cNvPr>
          <p:cNvSpPr/>
          <p:nvPr/>
        </p:nvSpPr>
        <p:spPr>
          <a:xfrm>
            <a:off x="9031777" y="2058005"/>
            <a:ext cx="1188720" cy="279069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DAO</a:t>
            </a:r>
          </a:p>
          <a:p>
            <a:pPr algn="ctr"/>
            <a:r>
              <a:rPr lang="zh-CN" altLang="en-US" sz="1100" dirty="0"/>
              <a:t>数据操作</a:t>
            </a:r>
            <a:r>
              <a:rPr lang="en-US" altLang="zh-CN" sz="1100" dirty="0"/>
              <a:t>CRUD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5439DD-18AB-FA9E-0415-85C75433A86F}"/>
              </a:ext>
            </a:extLst>
          </p:cNvPr>
          <p:cNvSpPr/>
          <p:nvPr/>
        </p:nvSpPr>
        <p:spPr>
          <a:xfrm>
            <a:off x="3836322" y="1884636"/>
            <a:ext cx="1235828" cy="317188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Interceptor</a:t>
            </a:r>
          </a:p>
          <a:p>
            <a:pPr algn="ctr"/>
            <a:r>
              <a:rPr lang="en-US" altLang="zh-CN" sz="1200" dirty="0" err="1">
                <a:solidFill>
                  <a:srgbClr val="FF0000"/>
                </a:solidFill>
              </a:rPr>
              <a:t>preHandle</a:t>
            </a:r>
            <a:endParaRPr lang="en-US" altLang="zh-CN" sz="1200" dirty="0">
              <a:solidFill>
                <a:srgbClr val="FF0000"/>
              </a:solidFill>
            </a:endParaRPr>
          </a:p>
          <a:p>
            <a:pPr algn="ctr"/>
            <a:r>
              <a:rPr lang="en-US" altLang="zh-CN" sz="1200" dirty="0" err="1">
                <a:solidFill>
                  <a:srgbClr val="FF0000"/>
                </a:solidFill>
              </a:rPr>
              <a:t>postHandle</a:t>
            </a:r>
            <a:endParaRPr lang="en-US" altLang="zh-CN" sz="1200" dirty="0">
              <a:solidFill>
                <a:srgbClr val="FF0000"/>
              </a:solidFill>
            </a:endParaRPr>
          </a:p>
          <a:p>
            <a:pPr algn="ctr"/>
            <a:r>
              <a:rPr lang="en-US" altLang="zh-CN" sz="1200" dirty="0" err="1">
                <a:solidFill>
                  <a:srgbClr val="FF0000"/>
                </a:solidFill>
              </a:rPr>
              <a:t>afterCompletion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1038336-87DB-3DC7-B5FA-0463909F228C}"/>
              </a:ext>
            </a:extLst>
          </p:cNvPr>
          <p:cNvCxnSpPr/>
          <p:nvPr/>
        </p:nvCxnSpPr>
        <p:spPr>
          <a:xfrm>
            <a:off x="5072150" y="2662460"/>
            <a:ext cx="4267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3DEA4C93-5A2D-5D8C-3AFA-8703844CF251}"/>
              </a:ext>
            </a:extLst>
          </p:cNvPr>
          <p:cNvCxnSpPr>
            <a:cxnSpLocks/>
          </p:cNvCxnSpPr>
          <p:nvPr/>
        </p:nvCxnSpPr>
        <p:spPr>
          <a:xfrm>
            <a:off x="6866314" y="2579333"/>
            <a:ext cx="2867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13BEC3A-B878-5B8D-9C7F-36E5D0E8347C}"/>
              </a:ext>
            </a:extLst>
          </p:cNvPr>
          <p:cNvCxnSpPr>
            <a:cxnSpLocks/>
          </p:cNvCxnSpPr>
          <p:nvPr/>
        </p:nvCxnSpPr>
        <p:spPr>
          <a:xfrm>
            <a:off x="8598132" y="2590417"/>
            <a:ext cx="4336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圆柱体 25">
            <a:extLst>
              <a:ext uri="{FF2B5EF4-FFF2-40B4-BE49-F238E27FC236}">
                <a16:creationId xmlns:a16="http://schemas.microsoft.com/office/drawing/2014/main" id="{979A3D82-C802-77EE-7989-A840B3C48467}"/>
              </a:ext>
            </a:extLst>
          </p:cNvPr>
          <p:cNvSpPr/>
          <p:nvPr/>
        </p:nvSpPr>
        <p:spPr>
          <a:xfrm>
            <a:off x="10976956" y="2713521"/>
            <a:ext cx="895004" cy="1479666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DB</a:t>
            </a:r>
          </a:p>
          <a:p>
            <a:pPr algn="ctr"/>
            <a:r>
              <a:rPr lang="en-US" altLang="zh-CN" dirty="0"/>
              <a:t>MySQL</a:t>
            </a:r>
            <a:endParaRPr lang="zh-CN" altLang="en-US" dirty="0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307F3E2-948C-56E3-118D-1536F2156507}"/>
              </a:ext>
            </a:extLst>
          </p:cNvPr>
          <p:cNvCxnSpPr/>
          <p:nvPr/>
        </p:nvCxnSpPr>
        <p:spPr>
          <a:xfrm>
            <a:off x="10220497" y="2828715"/>
            <a:ext cx="756459" cy="257695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6116BEE7-6BB6-8BCD-96B8-1627403C723E}"/>
              </a:ext>
            </a:extLst>
          </p:cNvPr>
          <p:cNvCxnSpPr/>
          <p:nvPr/>
        </p:nvCxnSpPr>
        <p:spPr>
          <a:xfrm flipH="1">
            <a:off x="10220497" y="3768053"/>
            <a:ext cx="756459" cy="307571"/>
          </a:xfrm>
          <a:prstGeom prst="straightConnector1">
            <a:avLst/>
          </a:prstGeom>
          <a:ln w="38100" cap="rnd" cmpd="dbl">
            <a:gradFill flip="none" rotWithShape="1"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A6A0C40-7776-8A05-F2C8-6660DEF8A15E}"/>
              </a:ext>
            </a:extLst>
          </p:cNvPr>
          <p:cNvCxnSpPr/>
          <p:nvPr/>
        </p:nvCxnSpPr>
        <p:spPr>
          <a:xfrm flipH="1">
            <a:off x="8578733" y="4193187"/>
            <a:ext cx="453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C53FCE16-DB52-04DA-2FCB-9C7EACE76BCC}"/>
              </a:ext>
            </a:extLst>
          </p:cNvPr>
          <p:cNvCxnSpPr>
            <a:cxnSpLocks/>
          </p:cNvCxnSpPr>
          <p:nvPr/>
        </p:nvCxnSpPr>
        <p:spPr>
          <a:xfrm flipH="1" flipV="1">
            <a:off x="6866314" y="4163891"/>
            <a:ext cx="282630" cy="8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39654E6C-CC19-A6ED-FD23-1C910FC2A372}"/>
              </a:ext>
            </a:extLst>
          </p:cNvPr>
          <p:cNvCxnSpPr/>
          <p:nvPr/>
        </p:nvCxnSpPr>
        <p:spPr>
          <a:xfrm flipH="1">
            <a:off x="5045825" y="4172204"/>
            <a:ext cx="453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03DED82-7478-7E69-3B02-CD18CB805961}"/>
              </a:ext>
            </a:extLst>
          </p:cNvPr>
          <p:cNvSpPr txBox="1"/>
          <p:nvPr/>
        </p:nvSpPr>
        <p:spPr>
          <a:xfrm>
            <a:off x="2431473" y="3084022"/>
            <a:ext cx="1026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JSON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83C281E-7BF1-5138-0D36-C33D9BC9EE8C}"/>
              </a:ext>
            </a:extLst>
          </p:cNvPr>
          <p:cNvSpPr txBox="1"/>
          <p:nvPr/>
        </p:nvSpPr>
        <p:spPr>
          <a:xfrm>
            <a:off x="10349341" y="3288318"/>
            <a:ext cx="64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SQL</a:t>
            </a:r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BBFAD4A-1874-8E99-F34D-68E91879D70F}"/>
              </a:ext>
            </a:extLst>
          </p:cNvPr>
          <p:cNvSpPr/>
          <p:nvPr/>
        </p:nvSpPr>
        <p:spPr>
          <a:xfrm>
            <a:off x="9372600" y="3921838"/>
            <a:ext cx="635922" cy="45304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DO</a:t>
            </a:r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C1AE9BE-9A90-1041-E828-18DB3C7EFB79}"/>
              </a:ext>
            </a:extLst>
          </p:cNvPr>
          <p:cNvSpPr/>
          <p:nvPr/>
        </p:nvSpPr>
        <p:spPr>
          <a:xfrm>
            <a:off x="5602781" y="3977055"/>
            <a:ext cx="1054330" cy="4322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DTO/DO/Map</a:t>
            </a:r>
            <a:endParaRPr lang="zh-CN" altLang="en-US" sz="12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519A3AB-0994-06A2-0003-994DC0CB81BD}"/>
              </a:ext>
            </a:extLst>
          </p:cNvPr>
          <p:cNvSpPr/>
          <p:nvPr/>
        </p:nvSpPr>
        <p:spPr>
          <a:xfrm>
            <a:off x="6129946" y="4992403"/>
            <a:ext cx="3819697" cy="47560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Exception/Util/Enum/Config…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258F2A-E009-A8AD-9D45-40C13FD4761B}"/>
              </a:ext>
            </a:extLst>
          </p:cNvPr>
          <p:cNvSpPr txBox="1"/>
          <p:nvPr/>
        </p:nvSpPr>
        <p:spPr>
          <a:xfrm>
            <a:off x="5669280" y="1762298"/>
            <a:ext cx="119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表现层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050A3B-7F68-5D6D-CDCE-844EDE311013}"/>
              </a:ext>
            </a:extLst>
          </p:cNvPr>
          <p:cNvSpPr txBox="1"/>
          <p:nvPr/>
        </p:nvSpPr>
        <p:spPr>
          <a:xfrm>
            <a:off x="7381702" y="1762298"/>
            <a:ext cx="1059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业务层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C56580F-8544-0479-2D02-856731FE84AA}"/>
              </a:ext>
            </a:extLst>
          </p:cNvPr>
          <p:cNvSpPr txBox="1"/>
          <p:nvPr/>
        </p:nvSpPr>
        <p:spPr>
          <a:xfrm>
            <a:off x="9110749" y="1695796"/>
            <a:ext cx="110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持久化层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75BB212-7A29-7793-0A91-F8A5D332E419}"/>
              </a:ext>
            </a:extLst>
          </p:cNvPr>
          <p:cNvSpPr txBox="1"/>
          <p:nvPr/>
        </p:nvSpPr>
        <p:spPr>
          <a:xfrm>
            <a:off x="3985954" y="1511130"/>
            <a:ext cx="964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拦截器</a:t>
            </a:r>
          </a:p>
        </p:txBody>
      </p:sp>
    </p:spTree>
    <p:extLst>
      <p:ext uri="{BB962C8B-B14F-4D97-AF65-F5344CB8AC3E}">
        <p14:creationId xmlns:p14="http://schemas.microsoft.com/office/powerpoint/2010/main" val="2657342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68401" y="2967335"/>
            <a:ext cx="10710334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spc="300">
                <a:solidFill>
                  <a:srgbClr val="008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尚硅谷让天下没有难学的技术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GuidesStyle_Narrow&quot;,&quot;Kind&quot;:0,&quot;OldGuidesSetting&quot;:{&quot;HeaderHeight&quot;:10.0,&quot;FooterHeight&quot;:5.0,&quot;SideMargin&quot;:2.5,&quot;TopMargin&quot;:0.0,&quot;BottomMargin&quot;:0.0,&quot;IntervalMargin&quot;:1.0}}"/>
  <p:tag name="COMMONDATA" val="eyJoZGlkIjoiMjU0YzZhNmMxMjZhOTQxODJkYTk5MDY1YmU0NmQ3YzEifQ=="/>
  <p:tag name="RESOURCE_RECORD_KEY" val="{&quot;10&quot;:[21544539],&quot;71&quot;:[76235679512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TEM_CNT" val="4"/>
  <p:tag name="RESOURCE_RECORD_KEY" val="{&quot;10&quot;:[21589723,21547916,4532506,21544539]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TEM_CNT" val="4"/>
  <p:tag name="RESOURCE_RECORD_KEY" val="{&quot;10&quot;:[21589723,21547916,4532506,21544539]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TEM_CNT" val="4"/>
  <p:tag name="RESOURCE_RECORD_KEY" val="{&quot;10&quot;:[21589723,21547916,4532506,21544539]}"/>
</p:tagLst>
</file>

<file path=ppt/theme/theme1.xml><?xml version="1.0" encoding="utf-8"?>
<a:theme xmlns:a="http://schemas.openxmlformats.org/drawingml/2006/main" name="WPS">
  <a:themeElements>
    <a:clrScheme name="">
      <a:dk1>
        <a:srgbClr val="000000"/>
      </a:dk1>
      <a:lt1>
        <a:srgbClr val="FFFFFF"/>
      </a:lt1>
      <a:dk2>
        <a:srgbClr val="133930"/>
      </a:dk2>
      <a:lt2>
        <a:srgbClr val="F6FCFA"/>
      </a:lt2>
      <a:accent1>
        <a:srgbClr val="318F79"/>
      </a:accent1>
      <a:accent2>
        <a:srgbClr val="60BA91"/>
      </a:accent2>
      <a:accent3>
        <a:srgbClr val="78B47F"/>
      </a:accent3>
      <a:accent4>
        <a:srgbClr val="83A45A"/>
      </a:accent4>
      <a:accent5>
        <a:srgbClr val="A8A95A"/>
      </a:accent5>
      <a:accent6>
        <a:srgbClr val="C0A348"/>
      </a:accent6>
      <a:hlink>
        <a:srgbClr val="658BD5"/>
      </a:hlink>
      <a:folHlink>
        <a:srgbClr val="A16AA5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a:style>
    </a:spDef>
    <a:lnDef>
      <a:spPr>
        <a:ln w="38100" cap="rnd" cmpd="dbl">
          <a:gradFill flip="none" rotWithShape="1">
            <a:gsLst>
              <a:gs pos="0">
                <a:srgbClr val="FF0000"/>
              </a:gs>
              <a:gs pos="74000">
                <a:schemeClr val="accent1">
                  <a:lumMod val="45000"/>
                  <a:lumOff val="55000"/>
                </a:schemeClr>
              </a:gs>
              <a:gs pos="89000">
                <a:schemeClr val="accent1">
                  <a:lumMod val="45000"/>
                  <a:lumOff val="55000"/>
                </a:schemeClr>
              </a:gs>
              <a:gs pos="85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prstDash val="sysDot"/>
          <a:tailEnd type="triangle"/>
        </a:ln>
      </a:spPr>
      <a:bodyPr/>
      <a:lstStyle/>
      <a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378</Words>
  <Application>Microsoft Office PowerPoint</Application>
  <PresentationFormat>宽屏</PresentationFormat>
  <Paragraphs>86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黑体</vt:lpstr>
      <vt:lpstr>华文行楷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Docker快速上手</dc:title>
  <dc:creator>lfy</dc:creator>
  <cp:lastModifiedBy>zy</cp:lastModifiedBy>
  <cp:revision>1688</cp:revision>
  <dcterms:created xsi:type="dcterms:W3CDTF">2023-08-09T12:44:00Z</dcterms:created>
  <dcterms:modified xsi:type="dcterms:W3CDTF">2026-02-09T01:51:48Z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4CDD7543B95F422CABCA8B2F5E239E6B_13</vt:lpwstr>
  </property>
  <property fmtid="{D5CDD505-2E9C-101B-9397-08002B2CF9AE}" pid="3" name="KSOProductBuildVer">
    <vt:lpwstr>2052-12.1.0.24034</vt:lpwstr>
  </property>
</Properties>
</file>